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Rescate</c:v>
                </c:pt>
              </c:strCache>
            </c:strRef>
          </c:tx>
          <c:spPr>
            <a:solidFill>
              <a:srgbClr val="0B3FA8"/>
            </a:solidFill>
            <a:effectLst/>
          </c:spPr>
          <c:invertIfNegative val="0"/>
          <c:dLbls>
            <c:numFmt formatCode="&quot;$&quot;0.00&quot; M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3F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4232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2023</c:v>
                  </c:pt>
                  <c:pt idx="1">
                    <c:v>2024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1.54</c:v>
                </c:pt>
                <c:pt idx="1">
                  <c:v>3.96</c:v>
                </c:pt>
              </c:numCache>
            </c:numRef>
          </c:val>
        </c:ser>
        <c:dLbls>
          <c:numFmt formatCode="&quot;$&quot;0.00&quot; M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(1 min). Bienvenida. Encuadrar el título: 'ciber-recuperación' es el término preciso (no es disaster recovery, lo veremos en 2 slides). Hoy: 1h teoría para entender la amenaza y el marco, 1h de laboratorio para montar el entorno. Todo open source y reproducible.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(2 min). Recorrer los bloques. Enfatizar que la sesión une teoría y práctica y que el hilo conductor es la recuperación con integridad. Preguntar quién ya trae Docker para calibrar el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FOCO (2 min). Este es el antídoto contra 'perder el foco'. Leer la pregunta en voz alta y decir que se repetirá al cierre de cada sesión. El stack open source es amplio, pero todo debe responder a esta pregunta. La IA es copiloto, no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VENN (4 min). Slide clave. Insistir: en DR asumes que el backup es bueno; en ciber-recuperación el atacante pudo dañar el backup mismo — el problema es de CONFIANZA. Por eso existen bóvedas inmutables y validación de integridad. Todo el seminario vive en el círculo verde. Esto neutraliza la confusión con 'restauración de sistemas'.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GLOSARIO (3 min). Nivelar el vocabulario. Recalcar RaaS (industria de afiliados) porque explica por qué hay tantos ataques, y 'doble/triple extorsión' porque explica por qué el backup solo no basta. 'Backup inmutable' e 'integridad' son los conceptos que sostienen todo 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ECONOMÍA (4 min). Explicar la cadena: los Initial Access Brokers venden accesos, el operador RaaS provee el 'producto', los afiliados atacan y se llevan la mayor tajada, la exfiltración habilita la doble extorsión. Mensaje: es una industria; por eso el volumen sube. La defensa debe ser proceso repetible, no heroísmo.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PANORAMA (3 min). Cifras del ESET Security Report 2025 (encuesta a 3.000+ profesionales en 15+ países). Resaltar el 32% que no puede confirmar si fue atacada: es el punto ciego de detección/integridad que resolvemos. Mencionar países y variantes actuales.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CRECIMIENTO (3 min). El rescate promedio casi se triplicó ($1,54M→$3,96M, Kaspersky): aunque el volumen bruto varía, el ataque es más dirigido y más caro. LatAm es la región que más crece (+26% interanual, Check Point). Y el 41,6% de los incidentes críticos ya son ransomware. Mensaje: menos ataques al azar, más 'big game hunting'.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MODALIDADES (3 min). La doble/triple extorsión ya es estándar; el RaaS baja la barrera de entrada; aparecen grupos 'exfil-only' (solo roban); y el objetivo se mueve a Linux/VMware/nube. Implicación clave: si ya te robaron los datos, el backup no te salva de la extorsión — de ahí la integridad + inmutabilidad + detección temprana.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CIEGO (3 min). Conecta las estadísticas con el propósito. El problema real es la falta de visibilidad y de confianza en la recuperación. Nuestra respuesta: integridad + inmutabilidad + copiloto de IA. Es el puente hacia los objetivos de aprendizaje.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OBJETIVOS (2 min). Cuatro resultados verificables de HOY. Recordar que los objetivos del módulo completo (10h) están en el syllabus. Estos anclan lo que sigue.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ATACANTES-VISIÓN (3 min). Recorrer los 6 pasos. Insistir: primero entra, se mueve, ROBA, DESTRUYE backups y AL FINAL cifra. Señalar pasos 4-5 = T1490 y T1486, el foco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POR CAPAS (4 min). Este es el diagrama de flujo del ataque. Leer capa por capa: en cada una hay una SEÑAL detectable (columna derecha). Mensaje central: no hay que esperar al cifrado; cada capa es una oportunidad de detección. La última capa (rojo) es donde vive la ciber-recuperación.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1 (3 min). El atacante con privilegios va por los backups ANTES de cifrar. Recorrer el flujo. Cierre: la bóveda inmutable rompe el paso 3 — no puedes borrar lo inmutable. Esto se construye en la Sesión 4 (MinIO Object Lock). Conecta con T1490.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2 (3 min). La doble extorsión: roban y luego cifran. Recorrer el flujo. Cierre clave: restaurar el backup NO borra la amenaza de publicación. Por eso el foco es detectar temprano (la exfiltración deja señales) y asumir la fuga en el plan de respuesta.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BACKUPS (3 min). Corazón conceptual. Discutir cada tarjeta con una pregunta al grupo ('¿su backup está en la misma red?'). La corrupción silenciosa es clave: las copias 'buenas' ya están sucias. Cierre: tener copias ≠ poder recuperar.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MITRE (3 min). Explicar qué es ATT&amp;CK. Ambas técnicas están en la táctica Impact. T1486 = cifrado (entropía alta, extensiones raras). T1490 = inhibir recuperación (vssadmin delete). Conectar: la bóveda inmutable de la S4 neutraliza T1490.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DEFENSOR (4 min). Contraparte del ataque. Recorrer las 5 funciones NIST como un proceso, no eventos sueltos. Señalar dónde entra la IA (DETECT/RESPOND) y repetir 'copiloto, no piloto': automatización solo en pasos acotados y reversibles. Esto es el mapa de todo el módulo.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NIST RECOVER (3 min). Ubicar RECOVER entre las 6 funciones (GOVERN es la nueva de 2.0). RC.RP: ejecutar el plan y verificar integridad ANTES de restaurar. RC.CO: comunicar. SP 800-184 es la guía operativa.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3-2-1-1-0 (3 min). Partir del 3-2-1 clásico y mostrar la evolución. El '1' inmutable y el '0' verificado responden directo a lo visto. Adelantar MinIO Object Lock (S4) y verificación (S5).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EPM (3 min). Dic 2022, BlackCat, servicios públicos de Medellín. Impacto en infraestructura, filtración, contingencia manual. Lección: la doble extorsión hace que el backup solo no baste. Preguntar si alguien lo vivió como usuario.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IFX (3 min). Sep 2023, RansomHouse, ataque a un proveedor que se propagó a decenas de entidades (Rama Judicial, salud). Se activó la PMU CIBER de MinTIC. Lección: riesgo de cadena de suministro; necesitas TU propia capacidad de verificar y recuperar.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A LA DATA (3 min). El concepto central de IA en forense: no subes la evidencia a un servicio; traes el modelo (que corre local) a tu data. Izquierda = lo que NO hacemos; derecha = lo que hacemos. Es la razón por la que el lab usa Ollama local. Mapea a OWASP LLM01.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 VS PÚBLICO (3 min). Las 4 razones forenses para no exponer evidencia a un modelo público: custodia, confidencialidad, retención y control. Matiz importante: la IA pública no es 'mala'; es que la EVIDENCIA no se manda. Con datos sintéticos del lab, un backend hosted es aceptable.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ABIERTO VS PÚBLICO (3 min). Aclarar la confusión: 'abierto' = pesos que descargas y ejecutas; 'público' = servicio de terceros por API. Un modelo abierto puede correr local (privado). Lo que protege la evidencia no es la marca, es DÓNDE corre. Foundation-Sec-8B es abierto y especializado en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(3 min). Elegimos el modelo por lo que el equipo puede correr, sin renunciar a que sea local. Resaltar la fila del curso (llama3.1:8b para 16–24 GB, como el equipo del docente). La última fila es 'si tuvieras más hardware' (ejemplo): 70B o Foundation-Sec-8B-Reasoning — más razonamiento, aún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HUGGING FACE (3 min). De dónde salen los pesos. Foundation-Sec-8B (Cisco) = abierto y especializado en seguridad. Llama/Qwen/Mistral/Gemma = generales sólidos. Cómo correrlos: Ollama directo o GGUF+Modelfile para los de HF. Para el taller, llama3.1:8b; Foundation-Sec-8B como reto. Fuente: huggingface.co/fdtn-ai.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TIEMPOS (3 min). Así corre el laboratorio: primero el análisis forense A MANO con comandos (para que piensen como investigadores y no dependan de la IA), y solo después el copiloto local sobre SUS hallazgos. El orden es intencional: el análisis manual es el control de calidad de la IA. Repo con el dataset y las dos guías.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PREÁMBULO S2 (2 min). Adelantar la Sesión 2 (entropía, hashing difuso, scoring con scikit-learn) para generar expectativa. Y dejar CLARO el 'para casa': el laboratorio de hoy debe quedar funcionando, con 'make check' en verde y el .env configurado, porque la S2 construye sobre él.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(2 min). Abrir preguntas. Repetir la estrella polar para fijar el foco. Anunciar el paso al laboratorio (que abran la guía/kit).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8-image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43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Ciber-recuperación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 frente a ransomware basada en integridad de datos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fallan los backups · cómo operan los atacantes · cómo debe responder el equipo de seguridad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617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Gestión de Ciber-Recuperación · Código 92-EAN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Jawy Andrés Romero Pinto</a:t>
            </a:r>
            <a:pPr indent="0" marL="0">
              <a:buNone/>
            </a:pPr>
            <a:r>
              <a:rPr lang="en-US" sz="1500" dirty="0">
                <a:solidFill>
                  <a:srgbClr val="E7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Ingeniero de Ciberseguridad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Ean · Educación Continua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0" y="5989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  ·  1h teoría + 1h laboratorio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sesión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la amenaza, ubicarla en los marcos y montar el entorno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66928" cy="566928"/>
          </a:xfrm>
          <a:prstGeom prst="ellipse">
            <a:avLst/>
          </a:prstGeom>
          <a:solidFill>
            <a:srgbClr val="0A2A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373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6362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del seminario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54480" y="1892808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estrella polar: recuperar con confianza verificando integridad.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2395728"/>
            <a:ext cx="566928" cy="566928"/>
          </a:xfrm>
          <a:prstGeom prst="ellipse">
            <a:avLst/>
          </a:prstGeom>
          <a:solidFill>
            <a:srgbClr val="0A6E8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53288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35915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54480" y="2688336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cada cosa, cómo opera el negocio del ransomware y su economía.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22960" y="3191256"/>
            <a:ext cx="566928" cy="566928"/>
          </a:xfrm>
          <a:prstGeom prst="ellipse">
            <a:avLst/>
          </a:prstGeom>
          <a:solidFill>
            <a:srgbClr val="B4232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32841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1546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de la región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54480" y="3483864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ha crecido y qué modalidades vienen en aumento (datos reales).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3986784"/>
            <a:ext cx="566928" cy="566928"/>
          </a:xfrm>
          <a:prstGeom prst="ellipse">
            <a:avLst/>
          </a:prstGeom>
          <a:solidFill>
            <a:srgbClr val="8A5A0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123944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395020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atacan y cómo defender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554480" y="4279392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ataque por capas, casos de uso y el playbook del defensor.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822960" y="4782312"/>
            <a:ext cx="566928" cy="566928"/>
          </a:xfrm>
          <a:prstGeom prst="ellipse">
            <a:avLst/>
          </a:prstGeom>
          <a:solidFill>
            <a:srgbClr val="0E7A3C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919472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54480" y="474573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y casos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554480" y="5074920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ATT&amp;CK, NIST CSF 2.0, regla 3-2-1-1-0 y casos EPM e IFX.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822960" y="5577840"/>
            <a:ext cx="566928" cy="566928"/>
          </a:xfrm>
          <a:prstGeom prst="ellipse">
            <a:avLst/>
          </a:prstGeom>
          <a:solidFill>
            <a:srgbClr val="6D1B7B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715000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554480" y="554126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(2ª hora)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1554480" y="5870448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reproducible + primer copiloto de triage.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estrella polar del seminario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pregunta que ancla cada actividad del curso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280160" y="1828800"/>
            <a:ext cx="9601200" cy="1554480"/>
          </a:xfrm>
          <a:prstGeom prst="roundRect">
            <a:avLst>
              <a:gd name="adj" fmla="val 8235"/>
            </a:avLst>
          </a:prstGeom>
          <a:solidFill>
            <a:srgbClr val="0A2A6B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2860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0" y="19659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«¿Esto me ayuda a detectar que un backup está corrupto y a identificar la última copia limpia para recuperar con confianza?»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3749040"/>
            <a:ext cx="256946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513332" y="4005072"/>
            <a:ext cx="640080" cy="640080"/>
          </a:xfrm>
          <a:prstGeom prst="ellipse">
            <a:avLst/>
          </a:prstGeom>
          <a:solidFill>
            <a:srgbClr val="0A6E8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" y="4160520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477316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Detección, no solo backup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85800" y="5285232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copias no basta; hay que saber cuál está limpia.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392424" y="3749040"/>
            <a:ext cx="256946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57116" y="4005072"/>
            <a:ext cx="640080" cy="640080"/>
          </a:xfrm>
          <a:prstGeom prst="ellipse">
            <a:avLst/>
          </a:prstGeom>
          <a:solidFill>
            <a:srgbClr val="0E7A3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564" y="416052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02152" y="477316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como copiloto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529584" y="5285232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agiliza el triage; el analista valida y decide.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236208" y="3749040"/>
            <a:ext cx="256946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00900" y="4005072"/>
            <a:ext cx="640080" cy="640080"/>
          </a:xfrm>
          <a:prstGeom prst="ellipse">
            <a:avLst/>
          </a:prstGeom>
          <a:solidFill>
            <a:srgbClr val="6D1B7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6348" y="4160520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45936" y="477316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de investigador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373368" y="5285232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hallazgo se verifica; nada se ejecuta sin evidencia.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9079992" y="3749040"/>
            <a:ext cx="256946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044684" y="4005072"/>
            <a:ext cx="640080" cy="640080"/>
          </a:xfrm>
          <a:prstGeom prst="ellipse">
            <a:avLst/>
          </a:prstGeom>
          <a:solidFill>
            <a:srgbClr val="0B3FA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0132" y="4160520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189720" y="477316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en recuperar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9217152" y="5285232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demo no sirve a esta pregunta, sobra.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NO es «recuperación ante desastres»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 y Ciber-recuperación resuelven problemas distintos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280160" y="1965960"/>
            <a:ext cx="5852160" cy="3566160"/>
          </a:xfrm>
          <a:prstGeom prst="ellipse">
            <a:avLst/>
          </a:prstGeom>
          <a:solidFill>
            <a:srgbClr val="0B3FA8">
              <a:alpha val="38000"/>
            </a:srgbClr>
          </a:solidFill>
          <a:ln w="19050">
            <a:solidFill>
              <a:srgbClr val="0B3F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1965960"/>
            <a:ext cx="5852160" cy="3566160"/>
          </a:xfrm>
          <a:prstGeom prst="ellipse">
            <a:avLst/>
          </a:prstGeom>
          <a:solidFill>
            <a:srgbClr val="0E7A3C">
              <a:alpha val="38000"/>
            </a:srgbClr>
          </a:solidFill>
          <a:ln w="19050">
            <a:solidFill>
              <a:srgbClr val="0E7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4813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0880" y="14813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CIBER-RECUPERACIÓN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514600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DISPONIBILIDAD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Incendio, falla, corte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Asume backups CONFIABLES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Restaurar y seguir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30368" y="269748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común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Restaurar datos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/ RPO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955280" y="2468880"/>
            <a:ext cx="2651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CONFIANZA / INTEGRIDAD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adversario corrompió o borró los backups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Bóveda inmutable, validación de integridad, sala limpia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Aclararlo el primer día es tu ancla: todo el curso vive en el círculo verde.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Antecedentes · el vocabulario que usaremos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términos que hay que tener claros antes de seguir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47088"/>
            <a:ext cx="640080" cy="640080"/>
          </a:xfrm>
          <a:prstGeom prst="ellipse">
            <a:avLst/>
          </a:prstGeom>
          <a:solidFill>
            <a:srgbClr val="B423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00253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79222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212848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que cifra datos/sistemas para exigir rescate; hoy además roba datos.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47088"/>
            <a:ext cx="640080" cy="640080"/>
          </a:xfrm>
          <a:prstGeom prst="ellipse">
            <a:avLst/>
          </a:prstGeom>
          <a:solidFill>
            <a:srgbClr val="6D1B7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00253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79222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RaaS (Ransomware-as-a-Service)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60920" y="2212848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afiliados: un grupo desarrolla, otros ejecutan y reparten el botín.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85800" y="3538728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3831336"/>
            <a:ext cx="640080" cy="640080"/>
          </a:xfrm>
          <a:prstGeom prst="ellipse">
            <a:avLst/>
          </a:prstGeom>
          <a:solidFill>
            <a:srgbClr val="8A5A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398678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77647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/ triple extorsión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83080" y="4197096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Cifran + amenazan con publicar datos + presionan a clientes o con DDoS.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538728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3831336"/>
            <a:ext cx="640080" cy="640080"/>
          </a:xfrm>
          <a:prstGeom prst="ellipse">
            <a:avLst/>
          </a:prstGeom>
          <a:solidFill>
            <a:srgbClr val="0E7A3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398678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377647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inmutable (WORM)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60920" y="4197096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que no se puede alterar ni borrar durante un periodo: la base para recuperar.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85800" y="5257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de datos:  </a:t>
            </a:r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de que un dato no fue alterado. Es lo que permite certificar que una copia está limpia antes de restaurar.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Antecedentes · cómo funciona el negocio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ransomware es una cadena de valor criminal, no un hacker solitario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736080" cy="1965960"/>
          </a:xfrm>
          <a:prstGeom prst="roundRect">
            <a:avLst>
              <a:gd name="adj" fmla="val 4740"/>
            </a:avLst>
          </a:prstGeom>
          <a:solidFill>
            <a:srgbClr val="0A6E8A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512" y="2340864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2798064"/>
            <a:ext cx="162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IAB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145536"/>
            <a:ext cx="1626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Corredor de accesos vende la entrada a la red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394448" y="3031236"/>
            <a:ext cx="384048" cy="292608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9" name="Shape 6"/>
          <p:cNvSpPr/>
          <p:nvPr/>
        </p:nvSpPr>
        <p:spPr>
          <a:xfrm>
            <a:off x="2888224" y="2194560"/>
            <a:ext cx="1736080" cy="1965960"/>
          </a:xfrm>
          <a:prstGeom prst="roundRect">
            <a:avLst>
              <a:gd name="adj" fmla="val 4740"/>
            </a:avLst>
          </a:prstGeom>
          <a:solidFill>
            <a:srgbClr val="6D1B7B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096" y="2340864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43088" y="2798064"/>
            <a:ext cx="162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RaaS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2943088" y="3145536"/>
            <a:ext cx="1626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 el ransomware y la infraestructura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734032" y="3031236"/>
            <a:ext cx="384048" cy="292608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14" name="Shape 10"/>
          <p:cNvSpPr/>
          <p:nvPr/>
        </p:nvSpPr>
        <p:spPr>
          <a:xfrm>
            <a:off x="5227808" y="2194560"/>
            <a:ext cx="1736080" cy="1965960"/>
          </a:xfrm>
          <a:prstGeom prst="roundRect">
            <a:avLst>
              <a:gd name="adj" fmla="val 4740"/>
            </a:avLst>
          </a:prstGeom>
          <a:solidFill>
            <a:srgbClr val="0A2A6B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680" y="2340864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82672" y="2798064"/>
            <a:ext cx="162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Afiliado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282672" y="3145536"/>
            <a:ext cx="1626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el ataque; se lleva ~70-90%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073616" y="3031236"/>
            <a:ext cx="384048" cy="292608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19" name="Shape 14"/>
          <p:cNvSpPr/>
          <p:nvPr/>
        </p:nvSpPr>
        <p:spPr>
          <a:xfrm>
            <a:off x="7567392" y="2194560"/>
            <a:ext cx="1736080" cy="1965960"/>
          </a:xfrm>
          <a:prstGeom prst="roundRect">
            <a:avLst>
              <a:gd name="adj" fmla="val 4740"/>
            </a:avLst>
          </a:prstGeom>
          <a:solidFill>
            <a:srgbClr val="8A5A00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4263" y="2340864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22256" y="2798064"/>
            <a:ext cx="162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Exfiltración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622256" y="3145536"/>
            <a:ext cx="1626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Roba datos antes de cifrar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413199" y="3031236"/>
            <a:ext cx="384048" cy="292608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24" name="Shape 18"/>
          <p:cNvSpPr/>
          <p:nvPr/>
        </p:nvSpPr>
        <p:spPr>
          <a:xfrm>
            <a:off x="9906975" y="2194560"/>
            <a:ext cx="1736080" cy="1965960"/>
          </a:xfrm>
          <a:prstGeom prst="roundRect">
            <a:avLst>
              <a:gd name="adj" fmla="val 4740"/>
            </a:avLst>
          </a:prstGeom>
          <a:solidFill>
            <a:srgbClr val="B4232A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3847" y="2340864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961839" y="2798064"/>
            <a:ext cx="162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Extorsión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9961839" y="3145536"/>
            <a:ext cx="1626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Rescate por clave y por no publicar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85800" y="45720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importa?  </a:t>
            </a:r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 un negocio con división del trabajo, el volumen crece y los ataques se profesionalizan. La defensa también debe operar como un proceso, no como un héroe.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en la región · panorama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ESET Security Report 2025 — +3.000 profesionales en 15+ países de LatAm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567864" cy="1645920"/>
          </a:xfrm>
          <a:prstGeom prst="roundRect">
            <a:avLst>
              <a:gd name="adj" fmla="val 6667"/>
            </a:avLst>
          </a:prstGeom>
          <a:solidFill>
            <a:srgbClr val="0B3FA8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77440"/>
            <a:ext cx="256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58368" y="3035808"/>
            <a:ext cx="234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organizaciones sufrió un ciberataque en el último año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90824" y="2194560"/>
            <a:ext cx="2567864" cy="1645920"/>
          </a:xfrm>
          <a:prstGeom prst="roundRect">
            <a:avLst>
              <a:gd name="adj" fmla="val 6667"/>
            </a:avLst>
          </a:prstGeom>
          <a:solidFill>
            <a:srgbClr val="0E7A3C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90824" y="2377440"/>
            <a:ext cx="256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00552" y="3035808"/>
            <a:ext cx="234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tuvo un incidente de ransomware en los últimos 2 años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2194560"/>
            <a:ext cx="2567864" cy="1645920"/>
          </a:xfrm>
          <a:prstGeom prst="roundRect">
            <a:avLst>
              <a:gd name="adj" fmla="val 6667"/>
            </a:avLst>
          </a:prstGeom>
          <a:solidFill>
            <a:srgbClr val="0B3FA8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33008" y="2377440"/>
            <a:ext cx="256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42736" y="3035808"/>
            <a:ext cx="234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al ransomware entre las principales amenazas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75191" y="2194560"/>
            <a:ext cx="2567864" cy="1645920"/>
          </a:xfrm>
          <a:prstGeom prst="roundRect">
            <a:avLst>
              <a:gd name="adj" fmla="val 6667"/>
            </a:avLst>
          </a:prstGeom>
          <a:solidFill>
            <a:srgbClr val="B4232A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75191" y="2377440"/>
            <a:ext cx="256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184919" y="3035808"/>
            <a:ext cx="234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 herramientas para confirmar si fue atacada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atacados:  </a:t>
            </a:r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Argentina, Brasil, Chile y México · variantes LockBit, Medusa, RansomHub · blancos: universidades, salud y gobierno.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32% que no puede confirmar si fue atacada es, literalmente, el problema que este seminario ataca: visibilidad e integridad.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ha crecido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región es la que más rápido crece, y los ataques son más caros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Rescate promedio exigido (USD millones)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228600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4"/>
          <p:cNvSpPr/>
          <p:nvPr/>
        </p:nvSpPr>
        <p:spPr>
          <a:xfrm>
            <a:off x="6400800" y="173736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629400" y="1993392"/>
            <a:ext cx="566928" cy="566928"/>
          </a:xfrm>
          <a:prstGeom prst="ellipse">
            <a:avLst/>
          </a:prstGeom>
          <a:solidFill>
            <a:srgbClr val="B4232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704" y="213969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60920" y="18836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+26% interanual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360920" y="226771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por organización/semana en LatAm: el mayor aumento del mundo (Check Point, 2025).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0" y="3227832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29400" y="3483864"/>
            <a:ext cx="566928" cy="566928"/>
          </a:xfrm>
          <a:prstGeom prst="ellipse">
            <a:avLst/>
          </a:prstGeom>
          <a:solidFill>
            <a:srgbClr val="8A5A0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363016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60920" y="33741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+60% incidentes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360920" y="375818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de ransomware reportados en un mes vs. el año anterior (dic. 2024→2025).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0" y="4718304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629400" y="4974336"/>
            <a:ext cx="566928" cy="566928"/>
          </a:xfrm>
          <a:prstGeom prst="ellipse">
            <a:avLst/>
          </a:prstGeom>
          <a:solidFill>
            <a:srgbClr val="6D1B7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704" y="512064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60920" y="48646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41,6% ya es ransomware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7360920" y="5248656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incidentes críticos que requieren respuesta de emergencia (vs. 33,3% el año previo · Kaspersky).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Modalidades que vienen creciendo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ataque evolucionó: ya no es solo cifrar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47088"/>
            <a:ext cx="640080" cy="640080"/>
          </a:xfrm>
          <a:prstGeom prst="ellipse">
            <a:avLst/>
          </a:prstGeom>
          <a:solidFill>
            <a:srgbClr val="B423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00253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79222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y triple extorsión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212848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+ filtración de datos + presión a clientes/DDoS. Hoy es el estándar.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47088"/>
            <a:ext cx="640080" cy="640080"/>
          </a:xfrm>
          <a:prstGeom prst="ellipse">
            <a:avLst/>
          </a:prstGeom>
          <a:solidFill>
            <a:srgbClr val="6D1B7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00253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79222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RaaS y afiliados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60920" y="2212848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como RansomHub con repartos 90/10; barrera de entrada baja.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85800" y="3538728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3831336"/>
            <a:ext cx="640080" cy="640080"/>
          </a:xfrm>
          <a:prstGeom prst="ellipse">
            <a:avLst/>
          </a:prstGeom>
          <a:solidFill>
            <a:srgbClr val="0A6E8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398678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77647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Exfil-only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83080" y="4197096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que ya ni cifran: solo roban y extorsionan con publicar.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538728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3831336"/>
            <a:ext cx="640080" cy="640080"/>
          </a:xfrm>
          <a:prstGeom prst="ellipse">
            <a:avLst/>
          </a:prstGeom>
          <a:solidFill>
            <a:srgbClr val="8A5A0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398678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377647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Linux, VMware y nube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60920" y="4197096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foco se mueve a hipervisores y cargas en la nube, no solo Windows.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85800" y="5257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 para recuperar:  </a:t>
            </a:r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atacante ya robó los datos, restaurar el backup no borra la extorsión. Por eso la defensa combina integridad, inmutabilidad y detección temprana.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ciego que vamos a atacar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no es solo el ataque: es no poder verlo ni confiar en la recuperación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47088"/>
            <a:ext cx="640080" cy="640080"/>
          </a:xfrm>
          <a:prstGeom prst="ellipse">
            <a:avLst/>
          </a:prstGeom>
          <a:solidFill>
            <a:srgbClr val="B423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00253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79222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sé si me atacaron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212848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de las empresas no tiene cómo confirmar un ataque (ESET).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47088"/>
            <a:ext cx="640080" cy="640080"/>
          </a:xfrm>
          <a:prstGeom prst="ellipse">
            <a:avLst/>
          </a:prstGeom>
          <a:solidFill>
            <a:srgbClr val="8A5A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00253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79222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 prevención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60920" y="2212848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del 50% implementa tecnología preventiva contra ransomware.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85800" y="3538728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3831336"/>
            <a:ext cx="640080" cy="640080"/>
          </a:xfrm>
          <a:prstGeom prst="ellipse">
            <a:avLst/>
          </a:prstGeom>
          <a:solidFill>
            <a:srgbClr val="6D1B7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398678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77647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no verificados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83080" y="4197096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Restaurar es una lotería si no sé cuál copia está limpia.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538728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3831336"/>
            <a:ext cx="640080" cy="640080"/>
          </a:xfrm>
          <a:prstGeom prst="ellipse">
            <a:avLst/>
          </a:prstGeom>
          <a:solidFill>
            <a:srgbClr val="0E7A3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398678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377647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respuesta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60920" y="4197096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+ inmutabilidad + copiloto de IA para cerrar la brecha.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85800" y="52578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es donde el análisis de integridad y la IA responsable marcan la diferencia — y es exactamente el hilo de todo el módulo.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 esta sesión, el participante podrá…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55448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47088"/>
            <a:ext cx="640080" cy="640080"/>
          </a:xfrm>
          <a:prstGeom prst="ellipse">
            <a:avLst/>
          </a:prstGeom>
          <a:solidFill>
            <a:srgbClr val="0A2A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002536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79222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la amenaza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783080" y="2212848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 ransomware corrompe y borra respaldos y por qué falla la recuperación tradicional.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55448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847088"/>
            <a:ext cx="640080" cy="640080"/>
          </a:xfrm>
          <a:prstGeom prst="ellipse">
            <a:avLst/>
          </a:prstGeom>
          <a:solidFill>
            <a:srgbClr val="0E7A3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00253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179222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Ubicar el ataque en ATT&amp;CK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360920" y="2212848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T1486 (cifrado) y T1490 (inhibición de recuperación) en un incidente real.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85800" y="3538728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60120" y="3831336"/>
            <a:ext cx="640080" cy="640080"/>
          </a:xfrm>
          <a:prstGeom prst="ellipse">
            <a:avLst/>
          </a:prstGeom>
          <a:solidFill>
            <a:srgbClr val="0B3FA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3986784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377647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Situar la respuesta en NIST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783080" y="4197096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 la recuperación con la función RECOVER de CSF 2.0 y la guía SP 800-184.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63640" y="3538728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37960" y="3831336"/>
            <a:ext cx="640080" cy="640080"/>
          </a:xfrm>
          <a:prstGeom prst="ellipse">
            <a:avLst/>
          </a:prstGeom>
          <a:solidFill>
            <a:srgbClr val="0A6E8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3986784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60920" y="377647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el entorno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7360920" y="4197096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Docker y un LLM local/hosted listos como base de las siguientes sesiones.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operan los atacantes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ransomware moderno no empieza cifrando: primero entra, roba y sabotea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38528"/>
            <a:ext cx="530352" cy="530352"/>
          </a:xfrm>
          <a:prstGeom prst="ellipse">
            <a:avLst/>
          </a:prstGeom>
          <a:solidFill>
            <a:srgbClr val="0A2A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0665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73352" y="1874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Acceso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73352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Phishing, credenciales o servicio expuesto.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26280" y="169164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938528"/>
            <a:ext cx="530352" cy="530352"/>
          </a:xfrm>
          <a:prstGeom prst="ellipse">
            <a:avLst/>
          </a:prstGeom>
          <a:solidFill>
            <a:srgbClr val="0A6E8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206654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1874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Movimiento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22392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Escalada y desplazamiento lateral.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75320" y="169164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03920" y="1938528"/>
            <a:ext cx="530352" cy="530352"/>
          </a:xfrm>
          <a:prstGeom prst="ellipse">
            <a:avLst/>
          </a:prstGeom>
          <a:solidFill>
            <a:srgbClr val="8A5A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936" y="206654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71432" y="1874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Exfiltración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171432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Roban datos antes de cifrar.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77240" y="3355848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5840" y="3602736"/>
            <a:ext cx="530352" cy="530352"/>
          </a:xfrm>
          <a:prstGeom prst="ellipse">
            <a:avLst/>
          </a:prstGeom>
          <a:solidFill>
            <a:srgbClr val="B4232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856" y="373075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73352" y="35387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Sabotaje de respaldos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673352" y="390448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Borran copias y snapshots (T1490).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26280" y="3355848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54880" y="3602736"/>
            <a:ext cx="530352" cy="530352"/>
          </a:xfrm>
          <a:prstGeom prst="ellipse">
            <a:avLst/>
          </a:prstGeom>
          <a:solidFill>
            <a:srgbClr val="6D1B7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373075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22392" y="35387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Cifrado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422392" y="390448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Cifran datos y sistemas (T1486).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75320" y="3355848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03920" y="3602736"/>
            <a:ext cx="530352" cy="530352"/>
          </a:xfrm>
          <a:prstGeom prst="ellipse">
            <a:avLst/>
          </a:prstGeom>
          <a:solidFill>
            <a:srgbClr val="0E7A3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1936" y="373075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71432" y="35387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Extorsión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9171432" y="390448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Rescate por clave y por no publicar.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77724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pasos 4 y 5 son los que rompen la recuperación tradicional. Ahí nos concentramos.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flujo del ataque · por capas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ataque avanza de arriba hacia abajo; cada capa es una oportunidad de detección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00200"/>
            <a:ext cx="420624" cy="420624"/>
          </a:xfrm>
          <a:prstGeom prst="ellipse">
            <a:avLst/>
          </a:prstGeom>
          <a:solidFill>
            <a:srgbClr val="0A2A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70078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361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inicial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60520" y="15361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/ VPN o RDP expuesto / credenciales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75320" y="153619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Señal: login anómalo, adjunto malicioso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05256" y="2103120"/>
            <a:ext cx="219456" cy="219456"/>
          </a:xfrm>
          <a:prstGeom prst="downArrow">
            <a:avLst/>
          </a:prstGeom>
          <a:solidFill>
            <a:srgbClr val="AEB8C7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" y="228600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4672" y="2404872"/>
            <a:ext cx="420624" cy="420624"/>
          </a:xfrm>
          <a:prstGeom prst="ellipse">
            <a:avLst/>
          </a:prstGeom>
          <a:solidFill>
            <a:srgbClr val="0A6E8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50545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3408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y persistencia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160520" y="234086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payload, crea tareas y servicios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75320" y="234086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Señal: procesos raros, nuevas tareas programadas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05256" y="2907792"/>
            <a:ext cx="219456" cy="219456"/>
          </a:xfrm>
          <a:prstGeom prst="downArrow">
            <a:avLst/>
          </a:prstGeom>
          <a:solidFill>
            <a:srgbClr val="AEB8C7"/>
          </a:solidFill>
          <a:ln/>
        </p:spPr>
      </p:sp>
      <p:sp>
        <p:nvSpPr>
          <p:cNvPr id="18" name="Shape 14"/>
          <p:cNvSpPr/>
          <p:nvPr/>
        </p:nvSpPr>
        <p:spPr>
          <a:xfrm>
            <a:off x="640080" y="3090672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4672" y="3209544"/>
            <a:ext cx="420624" cy="420624"/>
          </a:xfrm>
          <a:prstGeom prst="ellipse">
            <a:avLst/>
          </a:prstGeom>
          <a:solidFill>
            <a:srgbClr val="8A5A0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3310128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71600" y="314553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Escalada y credenciales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160520" y="314553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Obtiene privilegios y credenciales de dominio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275320" y="31455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Señal: volcado de credenciales, uso de admin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905256" y="3712464"/>
            <a:ext cx="219456" cy="219456"/>
          </a:xfrm>
          <a:prstGeom prst="downArrow">
            <a:avLst/>
          </a:prstGeom>
          <a:solidFill>
            <a:srgbClr val="AEB8C7"/>
          </a:solidFill>
          <a:ln/>
        </p:spPr>
      </p:sp>
      <p:sp>
        <p:nvSpPr>
          <p:cNvPr id="25" name="Shape 20"/>
          <p:cNvSpPr/>
          <p:nvPr/>
        </p:nvSpPr>
        <p:spPr>
          <a:xfrm>
            <a:off x="640080" y="3895344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4672" y="4014216"/>
            <a:ext cx="420624" cy="420624"/>
          </a:xfrm>
          <a:prstGeom prst="ellipse">
            <a:avLst/>
          </a:prstGeom>
          <a:solidFill>
            <a:srgbClr val="6D1B7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114800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71600" y="395020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 y lateral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160520" y="395020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 la red y se desplaza a más equipos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8275320" y="39502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Señal: escaneos internos, SMB/PsExec inusual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905256" y="4517136"/>
            <a:ext cx="219456" cy="219456"/>
          </a:xfrm>
          <a:prstGeom prst="downArrow">
            <a:avLst/>
          </a:prstGeom>
          <a:solidFill>
            <a:srgbClr val="AEB8C7"/>
          </a:solidFill>
          <a:ln/>
        </p:spPr>
      </p:sp>
      <p:sp>
        <p:nvSpPr>
          <p:cNvPr id="32" name="Shape 26"/>
          <p:cNvSpPr/>
          <p:nvPr/>
        </p:nvSpPr>
        <p:spPr>
          <a:xfrm>
            <a:off x="640080" y="4700016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04672" y="4818888"/>
            <a:ext cx="420624" cy="420624"/>
          </a:xfrm>
          <a:prstGeom prst="ellipse">
            <a:avLst/>
          </a:prstGeom>
          <a:solidFill>
            <a:srgbClr val="8A5A00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919472"/>
            <a:ext cx="219456" cy="21945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371600" y="47548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Exfiltración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4160520" y="47548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datos afuera (doble extorsión)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8275320" y="47548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Señal: salida masiva de datos a la nube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905256" y="5321808"/>
            <a:ext cx="219456" cy="219456"/>
          </a:xfrm>
          <a:prstGeom prst="downArrow">
            <a:avLst/>
          </a:prstGeom>
          <a:solidFill>
            <a:srgbClr val="AEB8C7"/>
          </a:solidFill>
          <a:ln/>
        </p:spPr>
      </p:sp>
      <p:sp>
        <p:nvSpPr>
          <p:cNvPr id="39" name="Shape 32"/>
          <p:cNvSpPr/>
          <p:nvPr/>
        </p:nvSpPr>
        <p:spPr>
          <a:xfrm>
            <a:off x="640080" y="5504688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 w="12700">
            <a:solidFill>
              <a:srgbClr val="B4232A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04672" y="5623560"/>
            <a:ext cx="420624" cy="420624"/>
          </a:xfrm>
          <a:prstGeom prst="ellipse">
            <a:avLst/>
          </a:prstGeom>
          <a:solidFill>
            <a:srgbClr val="B4232A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" y="5724144"/>
            <a:ext cx="219456" cy="21945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371600" y="55595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sabotaje + cifrado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4160520" y="555955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 backups (T1490) y cifra (T1486)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8275320" y="555955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Señal: vssadmin delete, entropía súbita</a:t>
            </a:r>
            <a:endParaRPr lang="en-US" sz="1050" dirty="0"/>
          </a:p>
        </p:txBody>
      </p:sp>
      <p:sp>
        <p:nvSpPr>
          <p:cNvPr id="45" name="Text 37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1 · Sabotaje de respaldos (T1490)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atacante va por tu red de seguridad antes de cifrar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736080" cy="1920240"/>
          </a:xfrm>
          <a:prstGeom prst="roundRect">
            <a:avLst>
              <a:gd name="adj" fmla="val 4740"/>
            </a:avLst>
          </a:prstGeom>
          <a:solidFill>
            <a:srgbClr val="0A2A6B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512" y="2066544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2523744"/>
            <a:ext cx="162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admin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2871216"/>
            <a:ext cx="162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con privilegios de dominio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394448" y="2734056"/>
            <a:ext cx="384048" cy="292608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9" name="Shape 6"/>
          <p:cNvSpPr/>
          <p:nvPr/>
        </p:nvSpPr>
        <p:spPr>
          <a:xfrm>
            <a:off x="2888224" y="1920240"/>
            <a:ext cx="1736080" cy="1920240"/>
          </a:xfrm>
          <a:prstGeom prst="roundRect">
            <a:avLst>
              <a:gd name="adj" fmla="val 4740"/>
            </a:avLst>
          </a:prstGeom>
          <a:solidFill>
            <a:srgbClr val="0A6E8A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096" y="2066544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43088" y="2523744"/>
            <a:ext cx="162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 backups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2943088" y="2871216"/>
            <a:ext cx="162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el servidor de respaldos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734032" y="2734056"/>
            <a:ext cx="384048" cy="292608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14" name="Shape 10"/>
          <p:cNvSpPr/>
          <p:nvPr/>
        </p:nvSpPr>
        <p:spPr>
          <a:xfrm>
            <a:off x="5227808" y="1920240"/>
            <a:ext cx="1736080" cy="1920240"/>
          </a:xfrm>
          <a:prstGeom prst="roundRect">
            <a:avLst>
              <a:gd name="adj" fmla="val 4740"/>
            </a:avLst>
          </a:prstGeom>
          <a:solidFill>
            <a:srgbClr val="B4232A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680" y="2066544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82672" y="2523744"/>
            <a:ext cx="162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 copias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282672" y="2871216"/>
            <a:ext cx="162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vssadmin delete, purga catálogos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073616" y="2734056"/>
            <a:ext cx="384048" cy="292608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19" name="Shape 14"/>
          <p:cNvSpPr/>
          <p:nvPr/>
        </p:nvSpPr>
        <p:spPr>
          <a:xfrm>
            <a:off x="7567392" y="1920240"/>
            <a:ext cx="1736080" cy="1920240"/>
          </a:xfrm>
          <a:prstGeom prst="roundRect">
            <a:avLst>
              <a:gd name="adj" fmla="val 4740"/>
            </a:avLst>
          </a:prstGeom>
          <a:solidFill>
            <a:srgbClr val="6D1B7B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4263" y="2066544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22256" y="2523744"/>
            <a:ext cx="162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Detiene servicio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622256" y="2871216"/>
            <a:ext cx="162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 el agente de backup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413199" y="2734056"/>
            <a:ext cx="384048" cy="292608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24" name="Shape 18"/>
          <p:cNvSpPr/>
          <p:nvPr/>
        </p:nvSpPr>
        <p:spPr>
          <a:xfrm>
            <a:off x="9906975" y="1920240"/>
            <a:ext cx="1736080" cy="1920240"/>
          </a:xfrm>
          <a:prstGeom prst="roundRect">
            <a:avLst>
              <a:gd name="adj" fmla="val 4740"/>
            </a:avLst>
          </a:prstGeom>
          <a:solidFill>
            <a:srgbClr val="8A5A00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3847" y="2066544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961839" y="2523744"/>
            <a:ext cx="162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tranquilo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9961839" y="2871216"/>
            <a:ext cx="162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no hay a dónde volver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40080" y="4206240"/>
            <a:ext cx="10927080" cy="1691640"/>
          </a:xfrm>
          <a:prstGeom prst="roundRect">
            <a:avLst>
              <a:gd name="adj" fmla="val 5405"/>
            </a:avLst>
          </a:prstGeom>
          <a:solidFill>
            <a:srgbClr val="EAF7EF"/>
          </a:solidFill>
          <a:ln w="12700">
            <a:solidFill>
              <a:srgbClr val="0E7A3C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914400" y="443484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neutralizamos: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bóveda inmutable (WORM / Object Lock) hace que el paso 3 sea imposible — el atacante no puede borrar lo que no se puede alterar. Más monitoreo de integridad (AIDE/Wazuh) para alertar si alguien lo intenta.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2 · Doble extorsión (exfil + cifrado)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restaures, la amenaza de publicar tus datos sigue viva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736080" cy="1920240"/>
          </a:xfrm>
          <a:prstGeom prst="roundRect">
            <a:avLst>
              <a:gd name="adj" fmla="val 4740"/>
            </a:avLst>
          </a:prstGeom>
          <a:solidFill>
            <a:srgbClr val="0A2A6B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512" y="2066544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2523744"/>
            <a:ext cx="162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2871216"/>
            <a:ext cx="162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inicial a la red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394448" y="2734056"/>
            <a:ext cx="384048" cy="292608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9" name="Shape 6"/>
          <p:cNvSpPr/>
          <p:nvPr/>
        </p:nvSpPr>
        <p:spPr>
          <a:xfrm>
            <a:off x="2888224" y="1920240"/>
            <a:ext cx="1736080" cy="1920240"/>
          </a:xfrm>
          <a:prstGeom prst="roundRect">
            <a:avLst>
              <a:gd name="adj" fmla="val 4740"/>
            </a:avLst>
          </a:prstGeom>
          <a:solidFill>
            <a:srgbClr val="0A6E8A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096" y="2066544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43088" y="2523744"/>
            <a:ext cx="162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Recolecta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2943088" y="2871216"/>
            <a:ext cx="162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datos sensibles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734032" y="2734056"/>
            <a:ext cx="384048" cy="292608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14" name="Shape 10"/>
          <p:cNvSpPr/>
          <p:nvPr/>
        </p:nvSpPr>
        <p:spPr>
          <a:xfrm>
            <a:off x="5227808" y="1920240"/>
            <a:ext cx="1736080" cy="1920240"/>
          </a:xfrm>
          <a:prstGeom prst="roundRect">
            <a:avLst>
              <a:gd name="adj" fmla="val 4740"/>
            </a:avLst>
          </a:prstGeom>
          <a:solidFill>
            <a:srgbClr val="8A5A00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680" y="2066544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82672" y="2523744"/>
            <a:ext cx="162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282672" y="2871216"/>
            <a:ext cx="162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datos hacia afuera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073616" y="2734056"/>
            <a:ext cx="384048" cy="292608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19" name="Shape 14"/>
          <p:cNvSpPr/>
          <p:nvPr/>
        </p:nvSpPr>
        <p:spPr>
          <a:xfrm>
            <a:off x="7567392" y="1920240"/>
            <a:ext cx="1736080" cy="1920240"/>
          </a:xfrm>
          <a:prstGeom prst="roundRect">
            <a:avLst>
              <a:gd name="adj" fmla="val 4740"/>
            </a:avLst>
          </a:prstGeom>
          <a:solidFill>
            <a:srgbClr val="B4232A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4263" y="2066544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22256" y="2523744"/>
            <a:ext cx="162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622256" y="2871216"/>
            <a:ext cx="162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la operación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413199" y="2734056"/>
            <a:ext cx="384048" cy="292608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24" name="Shape 18"/>
          <p:cNvSpPr/>
          <p:nvPr/>
        </p:nvSpPr>
        <p:spPr>
          <a:xfrm>
            <a:off x="9906975" y="1920240"/>
            <a:ext cx="1736080" cy="1920240"/>
          </a:xfrm>
          <a:prstGeom prst="roundRect">
            <a:avLst>
              <a:gd name="adj" fmla="val 4740"/>
            </a:avLst>
          </a:prstGeom>
          <a:solidFill>
            <a:srgbClr val="6D1B7B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3847" y="2066544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961839" y="2523744"/>
            <a:ext cx="162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Extorsiona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9961839" y="2871216"/>
            <a:ext cx="162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o publicamos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40080" y="4206240"/>
            <a:ext cx="10927080" cy="1691640"/>
          </a:xfrm>
          <a:prstGeom prst="roundRect">
            <a:avLst>
              <a:gd name="adj" fmla="val 5405"/>
            </a:avLst>
          </a:prstGeom>
          <a:solidFill>
            <a:srgbClr val="EAF7EF"/>
          </a:solidFill>
          <a:ln w="12700">
            <a:solidFill>
              <a:srgbClr val="0E7A3C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914400" y="443484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enfrentamos: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temprana de la exfiltración (salida masiva de datos) y asumir la fuga en el plan. Recuperar rápido reduce el impacto operativo, pero la lección es que el backup no borra la extorsión: hay que detectar antes de la etapa de cifrado.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fallan los backups tradicionales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copias no es lo mismo que poder recuperar con confianza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47088"/>
            <a:ext cx="640080" cy="640080"/>
          </a:xfrm>
          <a:prstGeom prst="ellipse">
            <a:avLst/>
          </a:prstGeom>
          <a:solidFill>
            <a:srgbClr val="B423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00253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79222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alcanzables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212848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están en la misma red y con las mismas credenciales, también los cifran.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47088"/>
            <a:ext cx="640080" cy="640080"/>
          </a:xfrm>
          <a:prstGeom prst="ellipse">
            <a:avLst/>
          </a:prstGeom>
          <a:solidFill>
            <a:srgbClr val="8A5A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00253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79222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Corrupción silenciosa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60920" y="2212848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malware lleva semanas: las copias 'buenas' ya están comprometidas.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85800" y="3538728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3831336"/>
            <a:ext cx="640080" cy="640080"/>
          </a:xfrm>
          <a:prstGeom prst="ellipse">
            <a:avLst/>
          </a:prstGeom>
          <a:solidFill>
            <a:srgbClr val="6D1B7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398678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77647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sé cuál está limpia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83080" y="4197096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verificación de integridad, restaurar puede reinfectar.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538728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3831336"/>
            <a:ext cx="640080" cy="640080"/>
          </a:xfrm>
          <a:prstGeom prst="ellipse">
            <a:avLst/>
          </a:prstGeom>
          <a:solidFill>
            <a:srgbClr val="0A6E8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398678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377647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no probada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60920" y="4197096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respaldo nunca se restauró de verdad; el RTO/RPO real aparece el día del incidente.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· las dos técnicas que nos importan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común para describir al adversario (táctica: Impact)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B4232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T1486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Encrypted for Impact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18211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adversario cifra datos y sistemas para interrumpir la operación y forzar el pago.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4069080"/>
            <a:ext cx="44805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archivos, bases de datos y a veces el arranque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Suele combinarse con exfiltración (doble extorsión)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Detección: creación masiva de archivos y alta entropía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60020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0" y="192024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6D1B7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920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T1490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260604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 System Recovery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75120" y="318211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adversario elimina o desactiva los mecanismos de recuperación.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12280" y="4069080"/>
            <a:ext cx="44805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 Volume Shadow Copies y snapshots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Desactiva reparación de arranque y catálogos de backup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una bóveda inmutable / WORM cambia el juego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debe operar el equipo de seguridad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por capas alineado a NIST CSF 2.0, con IA como copiloto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736080" cy="1965960"/>
          </a:xfrm>
          <a:prstGeom prst="roundRect">
            <a:avLst>
              <a:gd name="adj" fmla="val 4740"/>
            </a:avLst>
          </a:prstGeom>
          <a:solidFill>
            <a:srgbClr val="0A2A6B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512" y="2112264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2569464"/>
            <a:ext cx="162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2916936"/>
            <a:ext cx="1626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y datos críticos a proteger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394448" y="2802636"/>
            <a:ext cx="384048" cy="292608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9" name="Shape 6"/>
          <p:cNvSpPr/>
          <p:nvPr/>
        </p:nvSpPr>
        <p:spPr>
          <a:xfrm>
            <a:off x="2888224" y="1965960"/>
            <a:ext cx="1736080" cy="1965960"/>
          </a:xfrm>
          <a:prstGeom prst="roundRect">
            <a:avLst>
              <a:gd name="adj" fmla="val 4740"/>
            </a:avLst>
          </a:prstGeom>
          <a:solidFill>
            <a:srgbClr val="0A6E8A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096" y="2112264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43088" y="2569464"/>
            <a:ext cx="162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2943088" y="2916936"/>
            <a:ext cx="1626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Bóveda inmutable y 3-2-1-1-0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734032" y="2802636"/>
            <a:ext cx="384048" cy="292608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14" name="Shape 10"/>
          <p:cNvSpPr/>
          <p:nvPr/>
        </p:nvSpPr>
        <p:spPr>
          <a:xfrm>
            <a:off x="5227808" y="1965960"/>
            <a:ext cx="1736080" cy="1965960"/>
          </a:xfrm>
          <a:prstGeom prst="roundRect">
            <a:avLst>
              <a:gd name="adj" fmla="val 4740"/>
            </a:avLst>
          </a:prstGeom>
          <a:solidFill>
            <a:srgbClr val="8A5A00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680" y="2112264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82672" y="2569464"/>
            <a:ext cx="162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282672" y="2916936"/>
            <a:ext cx="1626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Integridad, entropía, YARA + copiloto IA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073616" y="2802636"/>
            <a:ext cx="384048" cy="292608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19" name="Shape 14"/>
          <p:cNvSpPr/>
          <p:nvPr/>
        </p:nvSpPr>
        <p:spPr>
          <a:xfrm>
            <a:off x="7567392" y="1965960"/>
            <a:ext cx="1736080" cy="1965960"/>
          </a:xfrm>
          <a:prstGeom prst="roundRect">
            <a:avLst>
              <a:gd name="adj" fmla="val 4740"/>
            </a:avLst>
          </a:prstGeom>
          <a:solidFill>
            <a:srgbClr val="B4232A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4263" y="2112264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22256" y="2569464"/>
            <a:ext cx="162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622256" y="2916936"/>
            <a:ext cx="1626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Contener, aislar, forense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413199" y="2802636"/>
            <a:ext cx="384048" cy="292608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24" name="Shape 18"/>
          <p:cNvSpPr/>
          <p:nvPr/>
        </p:nvSpPr>
        <p:spPr>
          <a:xfrm>
            <a:off x="9906975" y="1965960"/>
            <a:ext cx="1736080" cy="1965960"/>
          </a:xfrm>
          <a:prstGeom prst="roundRect">
            <a:avLst>
              <a:gd name="adj" fmla="val 4740"/>
            </a:avLst>
          </a:prstGeom>
          <a:solidFill>
            <a:srgbClr val="0E7A3C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3847" y="2112264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961839" y="2569464"/>
            <a:ext cx="162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9961839" y="2916936"/>
            <a:ext cx="1626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copia limpia y restaurar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40080" y="45262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de la IA:  </a:t>
            </a:r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agiliza DETECT y RESPOND (triage de alertas, correlación, generación de reglas), pero cada decisión la valida el analista. La automatización se usa en pasos acotados y reversibles — nunca decisiones críticas sin humano.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 · la función RECOVER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encaja la ciber-recuperación en el marco de gestión de riesgo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737360" cy="621792"/>
          </a:xfrm>
          <a:prstGeom prst="roundRect">
            <a:avLst>
              <a:gd name="adj" fmla="val 11765"/>
            </a:avLst>
          </a:prstGeom>
          <a:solidFill>
            <a:srgbClr val="9AA6B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97480" y="1554480"/>
            <a:ext cx="1737360" cy="621792"/>
          </a:xfrm>
          <a:prstGeom prst="roundRect">
            <a:avLst>
              <a:gd name="adj" fmla="val 11765"/>
            </a:avLst>
          </a:prstGeom>
          <a:solidFill>
            <a:srgbClr val="9AA6B5"/>
          </a:solidFill>
          <a:ln/>
        </p:spPr>
      </p:sp>
      <p:sp>
        <p:nvSpPr>
          <p:cNvPr id="7" name="Text 5"/>
          <p:cNvSpPr/>
          <p:nvPr/>
        </p:nvSpPr>
        <p:spPr>
          <a:xfrm>
            <a:off x="2697480" y="155448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1554480"/>
            <a:ext cx="1737360" cy="621792"/>
          </a:xfrm>
          <a:prstGeom prst="roundRect">
            <a:avLst>
              <a:gd name="adj" fmla="val 11765"/>
            </a:avLst>
          </a:prstGeom>
          <a:solidFill>
            <a:srgbClr val="9AA6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55448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46520" y="1554480"/>
            <a:ext cx="1737360" cy="621792"/>
          </a:xfrm>
          <a:prstGeom prst="roundRect">
            <a:avLst>
              <a:gd name="adj" fmla="val 11765"/>
            </a:avLst>
          </a:prstGeom>
          <a:solidFill>
            <a:srgbClr val="9AA6B5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55448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321040" y="1554480"/>
            <a:ext cx="1737360" cy="621792"/>
          </a:xfrm>
          <a:prstGeom prst="roundRect">
            <a:avLst>
              <a:gd name="adj" fmla="val 11765"/>
            </a:avLst>
          </a:prstGeom>
          <a:solidFill>
            <a:srgbClr val="9AA6B5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155448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195560" y="1554480"/>
            <a:ext cx="1737360" cy="621792"/>
          </a:xfrm>
          <a:prstGeom prst="roundRect">
            <a:avLst>
              <a:gd name="adj" fmla="val 11765"/>
            </a:avLst>
          </a:prstGeom>
          <a:solidFill>
            <a:srgbClr val="0E7A3C"/>
          </a:solidFill>
          <a:ln/>
        </p:spPr>
      </p:sp>
      <p:sp>
        <p:nvSpPr>
          <p:cNvPr id="15" name="Text 13"/>
          <p:cNvSpPr/>
          <p:nvPr/>
        </p:nvSpPr>
        <p:spPr>
          <a:xfrm>
            <a:off x="10195560" y="155448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246888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RC.RP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Incident Recovery Plan Execution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108960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el plan durante y después del incidente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la integridad de los respaldos antes de restaurar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Restaurar priorizando sistemas críticos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2468880"/>
            <a:ext cx="4983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RC.CO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Incident Recovery Communication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20840" y="3108960"/>
            <a:ext cx="4434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con partes internas y externas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el progreso a dirección e interesados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proveedores y autoridades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983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práctica:  </a:t>
            </a:r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800-184 — Guide for Cybersecurity Event Recovery.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respaldo 3-2-1-1-0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evolución del 3-2-1 clásico para la era del ransomware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2103120" cy="2788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8308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0B3FA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281635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copias de los datos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45643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+ dos respaldos.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71800" y="1783080"/>
            <a:ext cx="2103120" cy="2788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71800" y="178308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0E7A3C"/>
          </a:solidFill>
          <a:ln/>
        </p:spPr>
      </p:sp>
      <p:sp>
        <p:nvSpPr>
          <p:cNvPr id="11" name="Text 9"/>
          <p:cNvSpPr/>
          <p:nvPr/>
        </p:nvSpPr>
        <p:spPr>
          <a:xfrm>
            <a:off x="2971800" y="1783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108960" y="281635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medios distintos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08960" y="345643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tipos de almacenamiento.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57800" y="1783080"/>
            <a:ext cx="2103120" cy="2788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57800" y="178308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0B3FA8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1783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5394960" y="281635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fuera de sitio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94960" y="345643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una off-site / nube.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543800" y="1783080"/>
            <a:ext cx="2103120" cy="2788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43800" y="178308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6D1B7B"/>
          </a:solidFill>
          <a:ln/>
        </p:spPr>
      </p:sp>
      <p:sp>
        <p:nvSpPr>
          <p:cNvPr id="21" name="Text 19"/>
          <p:cNvSpPr/>
          <p:nvPr/>
        </p:nvSpPr>
        <p:spPr>
          <a:xfrm>
            <a:off x="7543800" y="1783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7680960" y="281635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inmutable / offline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680960" y="345643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o air-gapped: el atacante no la borra.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829800" y="1783080"/>
            <a:ext cx="2103120" cy="2788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29800" y="178308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B4232A"/>
          </a:solidFill>
          <a:ln/>
        </p:spPr>
      </p:sp>
      <p:sp>
        <p:nvSpPr>
          <p:cNvPr id="26" name="Text 24"/>
          <p:cNvSpPr/>
          <p:nvPr/>
        </p:nvSpPr>
        <p:spPr>
          <a:xfrm>
            <a:off x="9829800" y="1783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9966960" y="281635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verificados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966960" y="345643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probada y verificada.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5800" y="4846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'1' inmutable y el '0' verificado son justo lo que neutraliza a T1490. Los construimos en las sesiones 4 y 5.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· EPM (Medellín, diciembre 2022)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BlackCat/ALPHV contra una empresa de servicios públicos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6675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— energía, agua y gas — sufrió un ataque de BlackCat que afectó buena parte de su infraestructura tecnológica.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grupo reivindicó el ataque y comenzó a filtrar información robada (doble extorsión).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operativo: atención degradada y planes de contingencia manuales durante días.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635240" y="1737360"/>
            <a:ext cx="3886200" cy="4114800"/>
          </a:xfrm>
          <a:prstGeom prst="roundRect">
            <a:avLst>
              <a:gd name="adj" fmla="val 2824"/>
            </a:avLst>
          </a:prstGeom>
          <a:solidFill>
            <a:srgbClr val="0A2A6B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0" y="19659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nos enseña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0" y="251460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7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doble extorsión hace que el backup no baste: hay que asumir la fuga.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7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continuidad manual compra tiempo, a un costo enorme.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7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temprano (T1486/T1490) y tener copias inmutables cambia el desenlace.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· IFX Networks (septiembre 2023)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ataque a un proveedor que golpeó a decenas de entidades a la vez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6675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IFX Networks, proveedor de datacenter/nube, fue atacado (atribuido a RansomHouse), afectando en cascada a cientos de organizaciones de la región.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Colombia impactó servicios de la Rama Judicial, salud y entidades del Estado.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Gobierno activó la PMU CIBER de MinTIC para coordinar la respuesta nacional.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635240" y="1737360"/>
            <a:ext cx="3886200" cy="4114800"/>
          </a:xfrm>
          <a:prstGeom prst="roundRect">
            <a:avLst>
              <a:gd name="adj" fmla="val 2824"/>
            </a:avLst>
          </a:prstGeom>
          <a:solidFill>
            <a:srgbClr val="0E7A3C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0" y="19659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nos enseña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0" y="251460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es de cadena de suministro: dependes de terceros.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recuperación es lenta cuando no controlas la infraestructura ni las copias.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Necesitas tu propia capacidad de verificar integridad y recuperar.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 el modelo a la data, no la data al modelo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principio forense que define cómo usamos la IA en este curso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B4232A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700" b="1" dirty="0">
                <a:solidFill>
                  <a:srgbClr val="B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la data al modelo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51460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42900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 la evidencia a un modelo público → sale de tu control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88720" y="416052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Rompe la cadena de custodia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 PII y datos del caso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proveedor puede retener la data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4023360"/>
          </a:xfrm>
          <a:prstGeom prst="roundRect">
            <a:avLst>
              <a:gd name="adj" fmla="val 2727"/>
            </a:avLst>
          </a:prstGeom>
          <a:solidFill>
            <a:srgbClr val="EAF7EF"/>
          </a:solidFill>
          <a:ln w="19050">
            <a:solidFill>
              <a:srgbClr val="0E7A3C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3796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7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el modelo a la data</a:t>
            </a:r>
            <a:endParaRPr lang="en-US" sz="17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514600"/>
            <a:ext cx="822960" cy="8229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7960" y="342900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corre local, sobre tu backup/imagen forense → nada sale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416052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 la cadena de custodia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nunca abandona tu entorno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offline / air-gapped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local y no un modelo público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hay evidencia de por medio, el dónde corre el modelo es una decisión forense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47088"/>
            <a:ext cx="640080" cy="640080"/>
          </a:xfrm>
          <a:prstGeom prst="ellipse">
            <a:avLst/>
          </a:prstGeom>
          <a:solidFill>
            <a:srgbClr val="0A2A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00253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79222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custodia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212848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tercero en el flujo debilita el valor probatorio de la evidencia.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47088"/>
            <a:ext cx="640080" cy="640080"/>
          </a:xfrm>
          <a:prstGeom prst="ellipse">
            <a:avLst/>
          </a:prstGeom>
          <a:solidFill>
            <a:srgbClr val="B423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00253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79222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 / PII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60920" y="2212848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un backup a un API público es, en sí, una fuga de datos.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85800" y="3538728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3831336"/>
            <a:ext cx="640080" cy="640080"/>
          </a:xfrm>
          <a:prstGeom prst="ellipse">
            <a:avLst/>
          </a:prstGeom>
          <a:solidFill>
            <a:srgbClr val="8A5A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398678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77647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del proveedor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83080" y="4197096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controlas qué guarda el servicio, por cuánto tiempo ni para qué.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538728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3831336"/>
            <a:ext cx="640080" cy="640080"/>
          </a:xfrm>
          <a:prstGeom prst="ellipse">
            <a:avLst/>
          </a:prstGeom>
          <a:solidFill>
            <a:srgbClr val="0E7A3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398678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377647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60920" y="4197096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= offline si hace falta; tú decides qué entra y qué sale.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85800" y="52578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que la IA pública sea 'mala' — es que la evidencia no se expone. Para datos sintéticos del lab, hosted está bien.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abierto vs. modelo público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lo mismo — y la diferencia importa para la evidencia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74520"/>
            <a:ext cx="640080" cy="640080"/>
          </a:xfrm>
          <a:prstGeom prst="ellipse">
            <a:avLst/>
          </a:prstGeom>
          <a:solidFill>
            <a:srgbClr val="0E7A3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0299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385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abierto (pesos)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43000" y="2697480"/>
            <a:ext cx="4526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Descargas los pesos y lo ejecutas TÚ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local o en tu infraestructura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data NO sale de tu entorno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Llama, Qwen, Mistral, Foundation-Sec-8B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Apto para EVIDENCIA (air-gapped)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874520"/>
            <a:ext cx="640080" cy="640080"/>
          </a:xfrm>
          <a:prstGeom prst="ellipse">
            <a:avLst/>
          </a:prstGeom>
          <a:solidFill>
            <a:srgbClr val="0B3FA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20299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9385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público (API)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766560" y="2697480"/>
            <a:ext cx="4526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un servicio remoto por API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en los servidores del proveedor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data SALE hacia el proveedor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GPT-4o, Claude, Gemini (API)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datos NO sensibles / sintéticos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5870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«Abierto» = puedes descargar y ejecutar. «Público» = servicio de terceros. Lo que protege la evidencia es DÓNDE corre.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modelo según tu hardware?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Elegimos por lo que tu equipo puede correr — sin perder privacidad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27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4650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RAM, sin GPU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343400" y="174650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llama3.2:3b / qwen2.5:3b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366760" y="1746504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Básico, para aprender el flujo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60904"/>
            <a:ext cx="10927080" cy="841248"/>
          </a:xfrm>
          <a:prstGeom prst="roundRect">
            <a:avLst>
              <a:gd name="adj" fmla="val 8696"/>
            </a:avLst>
          </a:prstGeom>
          <a:solidFill>
            <a:srgbClr val="EAF7EF"/>
          </a:solidFill>
          <a:ln w="19050">
            <a:solidFill>
              <a:srgbClr val="0E7A3C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71576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16–24 GB RAM (Mac M-series)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343400" y="271576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llama3.1:8b  ← el del curso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66760" y="271576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 calidad + privacidad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630168"/>
            <a:ext cx="10927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68503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24 GB+ (workstation)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343400" y="368503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qwen2.5:32b / 70B cuantizado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66760" y="368503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razonamiento, aún local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599432"/>
            <a:ext cx="10927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6542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multi-GPU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343400" y="465429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1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llama3.3:70b / Foundation-Sec-8B-Reasoning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66760" y="4654296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producción, sigue local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curso usa llama3.1:8b: corre local en 16–24 GB, sigue bien las instrucciones del triage y mantiene la privacidad.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abiertos en Hugging Face para el caso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salen los pesos y cuáles sirven para este ejercicio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47088"/>
            <a:ext cx="640080" cy="640080"/>
          </a:xfrm>
          <a:prstGeom prst="ellipse">
            <a:avLst/>
          </a:prstGeom>
          <a:solidFill>
            <a:srgbClr val="0A2A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00253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79222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Foundation-Sec-8B (Cisco)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212848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Especializado en seguridad, sobre Llama-3.1-8B. Variantes: base, Instruct, Reasoning.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47088"/>
            <a:ext cx="640080" cy="640080"/>
          </a:xfrm>
          <a:prstGeom prst="ellipse">
            <a:avLst/>
          </a:prstGeom>
          <a:solidFill>
            <a:srgbClr val="0E7A3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00253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79222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/ 3.2 (Meta)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60920" y="2212848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Generales sólidos; 8B es el punto dulce local para el triage del curso.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85800" y="3538728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3831336"/>
            <a:ext cx="640080" cy="640080"/>
          </a:xfrm>
          <a:prstGeom prst="ellipse">
            <a:avLst/>
          </a:prstGeom>
          <a:solidFill>
            <a:srgbClr val="0A6E8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398678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77647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/ Mistral / Gemma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83080" y="4197096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abiertas fuertes (3B a 32B) según tu hardware.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538728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3831336"/>
            <a:ext cx="640080" cy="640080"/>
          </a:xfrm>
          <a:prstGeom prst="ellipse">
            <a:avLst/>
          </a:prstGeom>
          <a:solidFill>
            <a:srgbClr val="6D1B7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398678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377647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ejecutarlos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60920" y="4197096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(pull directo) o GGUF + Modelfile / llama.cpp para pesos de HF.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85800" y="52578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taller:  </a:t>
            </a:r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llama3.1:8b vía Ollama por simplicidad; Foundation-Sec-8B queda como reto avanzado (GGUF). Requiere cuenta gratuita de Hugging Face.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taller en dos tiempos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el investigador; después el copiloto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0A2A6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470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Forense a mano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Descargas el 'backup' del caso (Ubuntu/Warp)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extensión vs. contenido (magic number)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sha256sum: integridad (¿me cambiaron un archivo?)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entropía: ¿está cifrado? (~8.0)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de Warp (OZ) ayuda con los comandos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257800" cy="3977640"/>
          </a:xfrm>
          <a:prstGeom prst="roundRect">
            <a:avLst>
              <a:gd name="adj" fmla="val 2759"/>
            </a:avLst>
          </a:prstGeom>
          <a:solidFill>
            <a:srgbClr val="EAF7EF"/>
          </a:solidFill>
          <a:ln w="12700">
            <a:solidFill>
              <a:srgbClr val="0E7A3C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691640"/>
            <a:ext cx="5257800" cy="868680"/>
          </a:xfrm>
          <a:prstGeom prst="roundRect">
            <a:avLst>
              <a:gd name="adj" fmla="val 12632"/>
            </a:avLst>
          </a:prstGeom>
          <a:solidFill>
            <a:srgbClr val="0E7A3C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470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Copiloto de IA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2743200"/>
            <a:ext cx="4709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LOCAL corre sobre tus hallazgos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y mapea a MITRE ATT&amp;CK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Contrastas: ¿la IA coincide contigo? ¿alucinó?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análisis manual es el control de calidad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Copiloto, no piloto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52160" y="3383280"/>
            <a:ext cx="502920" cy="457200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· qué viene y qué alistar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— Análisis de integridad con herramientas abiertas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Sesión 2 veremos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24028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Entropía de Shannon para detectar cifrado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parcial y magic number vs. extensión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difuso (ssdeep / TLSH) para variantes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de corrupción y anomalías con scikit-learn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dato a la decisión: ¿esta copia está limpia?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166360" cy="4297680"/>
          </a:xfrm>
          <a:prstGeom prst="roundRect">
            <a:avLst>
              <a:gd name="adj" fmla="val 2553"/>
            </a:avLst>
          </a:prstGeom>
          <a:solidFill>
            <a:srgbClr val="0E7A3C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debes traer listo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24028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laboratorio de HOY funcionando (setup elegido)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check en verde (backend LLM operativo)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con el entorno del kit ya instalado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.env configurado (local u hosted)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Dudas del lab resueltas antes de empezar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educación continua</a:t>
            </a:r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Sesión 1 · Ciber-recuperación (92-EAN)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 antes del laboratorio?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4290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383280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 la estrella polar: recuperar con confianza no es tener copias, es poder verificar cuál copia está limpia y restaurarla sin reinfectarse.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Jawy Andrés Romero Pinto</a:t>
            </a:r>
            <a:pPr indent="0" marL="0">
              <a:buNone/>
            </a:pPr>
            <a:r>
              <a:rPr lang="en-US" sz="14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Universidad Ean · Educación Continua · 92-EAN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Universidad Ean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Jawy Andrés Romero Pinto</dc:creator>
  <cp:lastModifiedBy>Jawy Andrés Romero Pinto</cp:lastModifiedBy>
  <cp:revision>1</cp:revision>
  <dcterms:created xsi:type="dcterms:W3CDTF">2026-08-04T03:47:22Z</dcterms:created>
  <dcterms:modified xsi:type="dcterms:W3CDTF">2026-08-04T03:47:22Z</dcterms:modified>
</cp:coreProperties>
</file>